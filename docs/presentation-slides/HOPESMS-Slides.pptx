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Cardo Bold" charset="1" panose="02020804080000020003"/>
      <p:regular r:id="rId19"/>
    </p:embeddedFont>
    <p:embeddedFont>
      <p:font typeface="Open Sauce" charset="1" panose="00000500000000000000"/>
      <p:regular r:id="rId20"/>
    </p:embeddedFont>
    <p:embeddedFont>
      <p:font typeface="Open Sauce Bold" charset="1" panose="00000800000000000000"/>
      <p:regular r:id="rId21"/>
    </p:embeddedFont>
    <p:embeddedFont>
      <p:font typeface="Cardo" charset="1" panose="020206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Masters/notesMaster1.xml" Type="http://schemas.openxmlformats.org/officeDocument/2006/relationships/notesMaster"/><Relationship Id="rId24" Target="theme/theme2.xml" Type="http://schemas.openxmlformats.org/officeDocument/2006/relationships/theme"/><Relationship Id="rId25" Target="notesSlides/notesSlide1.xml" Type="http://schemas.openxmlformats.org/officeDocument/2006/relationships/notesSlide"/><Relationship Id="rId26" Target="notesSlides/notesSlide2.xml" Type="http://schemas.openxmlformats.org/officeDocument/2006/relationships/notesSlide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Shows the table stucture of the project , and it's connection to each other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Shows the rights matrix of the project, where access were defined to a 13-point access toggle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Shows the Create and Read feature of the Sales Transaction Page. 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Datas were fetched from Customer and Employee Table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Focuses on Cascade, where if a Sale Transaction were deleted, it's Line Items will be deleted also. If it's restored, items will also be restored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By Employee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By Customer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Top Products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Monthly Trend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Shares what the team learned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Adios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2.pn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3.pn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4.pn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956043" y="1476043"/>
            <a:ext cx="13220411" cy="9720062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28700" y="1552891"/>
            <a:ext cx="8516305" cy="420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40"/>
              </a:lnSpc>
            </a:pPr>
            <a:r>
              <a:rPr lang="en-US" sz="9200" b="true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Hope Inc. Sales Management System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269400"/>
            <a:ext cx="5611403" cy="319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Developed by </a:t>
            </a:r>
            <a:r>
              <a:rPr lang="en-US" sz="3000" b="tru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Group 5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M1</a:t>
            </a:r>
            <a:r>
              <a:rPr lang="en-US" sz="3000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 - Lance Dwight Aguilar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M2 </a:t>
            </a:r>
            <a:r>
              <a:rPr lang="en-US" sz="3000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- Jan Neo Gloria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M3</a:t>
            </a:r>
            <a:r>
              <a:rPr lang="en-US" sz="3000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 - Erick Ian Litao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M4</a:t>
            </a:r>
            <a:r>
              <a:rPr lang="en-US" sz="3000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 - Jun Angelo Uri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3259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M5</a:t>
            </a:r>
            <a:r>
              <a:rPr lang="en-US" sz="3000">
                <a:solidFill>
                  <a:srgbClr val="325939"/>
                </a:solidFill>
                <a:latin typeface="Open Sauce"/>
                <a:ea typeface="Open Sauce"/>
                <a:cs typeface="Open Sauce"/>
                <a:sym typeface="Open Sauce"/>
              </a:rPr>
              <a:t> - Darwin Baysa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39049" y="6831705"/>
            <a:ext cx="3448951" cy="4114800"/>
          </a:xfrm>
          <a:custGeom>
            <a:avLst/>
            <a:gdLst/>
            <a:ahLst/>
            <a:cxnLst/>
            <a:rect r="r" b="b" t="t" l="l"/>
            <a:pathLst>
              <a:path h="4114800" w="3448951">
                <a:moveTo>
                  <a:pt x="0" y="0"/>
                </a:moveTo>
                <a:lnTo>
                  <a:pt x="3448951" y="0"/>
                </a:lnTo>
                <a:lnTo>
                  <a:pt x="34489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8894" y="547070"/>
            <a:ext cx="12121029" cy="963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84"/>
              </a:lnSpc>
              <a:spcBef>
                <a:spcPct val="0"/>
              </a:spcBef>
            </a:pPr>
            <a:r>
              <a:rPr lang="en-US" b="true" sz="6320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Overview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88560"/>
            <a:ext cx="15934895" cy="6900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</a:pPr>
            <a:r>
              <a:rPr lang="en-US" sz="3400" b="true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HOPE-SMS</a:t>
            </a:r>
            <a:r>
              <a:rPr lang="en-US" sz="3400">
                <a:solidFill>
                  <a:srgbClr val="325939"/>
                </a:solidFill>
                <a:latin typeface="Cardo"/>
                <a:ea typeface="Cardo"/>
                <a:cs typeface="Cardo"/>
                <a:sym typeface="Cardo"/>
              </a:rPr>
              <a:t> is a web-application made to streamline sales transactions, while enforcing strict data management and access governance</a:t>
            </a:r>
          </a:p>
          <a:p>
            <a:pPr algn="l">
              <a:lnSpc>
                <a:spcPts val="4080"/>
              </a:lnSpc>
            </a:pPr>
          </a:p>
          <a:p>
            <a:pPr algn="l">
              <a:lnSpc>
                <a:spcPts val="4760"/>
              </a:lnSpc>
            </a:pPr>
            <a:r>
              <a:rPr lang="en-US" sz="3400" b="true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Objective</a:t>
            </a:r>
            <a:r>
              <a:rPr lang="en-US" sz="3400">
                <a:solidFill>
                  <a:srgbClr val="325939"/>
                </a:solidFill>
                <a:latin typeface="Cardo"/>
                <a:ea typeface="Cardo"/>
                <a:cs typeface="Cardo"/>
                <a:sym typeface="Cardo"/>
              </a:rPr>
              <a:t>: To provide a centralized platform for managing sales, customers, and employees, with a real-time analytics reporting</a:t>
            </a:r>
          </a:p>
          <a:p>
            <a:pPr algn="l">
              <a:lnSpc>
                <a:spcPts val="4760"/>
              </a:lnSpc>
            </a:pPr>
            <a:r>
              <a:rPr lang="en-US" sz="3400" b="true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Automated Pricing: </a:t>
            </a:r>
            <a:r>
              <a:rPr lang="en-US" sz="3400">
                <a:solidFill>
                  <a:srgbClr val="325939"/>
                </a:solidFill>
                <a:latin typeface="Cardo"/>
                <a:ea typeface="Cardo"/>
                <a:cs typeface="Cardo"/>
                <a:sym typeface="Cardo"/>
              </a:rPr>
              <a:t>Features a pricing logic that fetches unit prices from price listing to prevent manual entry erros</a:t>
            </a:r>
          </a:p>
          <a:p>
            <a:pPr algn="l">
              <a:lnSpc>
                <a:spcPts val="4760"/>
              </a:lnSpc>
            </a:pPr>
            <a:r>
              <a:rPr lang="en-US" sz="3400" b="true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Data Integrity</a:t>
            </a:r>
            <a:r>
              <a:rPr lang="en-US" sz="3400">
                <a:solidFill>
                  <a:srgbClr val="325939"/>
                </a:solidFill>
                <a:latin typeface="Cardo"/>
                <a:ea typeface="Cardo"/>
                <a:cs typeface="Cardo"/>
                <a:sym typeface="Cardo"/>
              </a:rPr>
              <a:t>: Implements a “Soft-Delete” policy to transactions and line items, </a:t>
            </a:r>
          </a:p>
          <a:p>
            <a:pPr algn="l">
              <a:lnSpc>
                <a:spcPts val="4760"/>
              </a:lnSpc>
            </a:pPr>
            <a:r>
              <a:rPr lang="en-US" sz="3400">
                <a:solidFill>
                  <a:srgbClr val="325939"/>
                </a:solidFill>
                <a:latin typeface="Cardo"/>
                <a:ea typeface="Cardo"/>
                <a:cs typeface="Cardo"/>
                <a:sym typeface="Cardo"/>
              </a:rPr>
              <a:t>using ACTIVE/INACTIVE toggle</a:t>
            </a:r>
          </a:p>
          <a:p>
            <a:pPr algn="l">
              <a:lnSpc>
                <a:spcPts val="4760"/>
              </a:lnSpc>
            </a:pPr>
            <a:r>
              <a:rPr lang="en-US" sz="3400" b="true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Security</a:t>
            </a:r>
            <a:r>
              <a:rPr lang="en-US" sz="3400">
                <a:solidFill>
                  <a:srgbClr val="325939"/>
                </a:solidFill>
                <a:latin typeface="Cardo"/>
                <a:ea typeface="Cardo"/>
                <a:cs typeface="Cardo"/>
                <a:sym typeface="Cardo"/>
              </a:rPr>
              <a:t>: Driven by a granular 13-point Rights Matrix and Supabase </a:t>
            </a:r>
          </a:p>
          <a:p>
            <a:pPr algn="l" marL="0" indent="0" lvl="0">
              <a:lnSpc>
                <a:spcPts val="4760"/>
              </a:lnSpc>
            </a:pPr>
            <a:r>
              <a:rPr lang="en-US" sz="3400">
                <a:solidFill>
                  <a:srgbClr val="325939"/>
                </a:solidFill>
                <a:latin typeface="Cardo"/>
                <a:ea typeface="Cardo"/>
                <a:cs typeface="Cardo"/>
                <a:sym typeface="Cardo"/>
              </a:rPr>
              <a:t>Row Level Security (RLS) to protect sensitive business data in a production environment.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35354" y="1510330"/>
            <a:ext cx="8171017" cy="8353260"/>
          </a:xfrm>
          <a:custGeom>
            <a:avLst/>
            <a:gdLst/>
            <a:ahLst/>
            <a:cxnLst/>
            <a:rect r="r" b="b" t="t" l="l"/>
            <a:pathLst>
              <a:path h="8353260" w="8171017">
                <a:moveTo>
                  <a:pt x="0" y="0"/>
                </a:moveTo>
                <a:lnTo>
                  <a:pt x="8171016" y="0"/>
                </a:lnTo>
                <a:lnTo>
                  <a:pt x="8171016" y="8353260"/>
                </a:lnTo>
                <a:lnTo>
                  <a:pt x="0" y="8353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499" t="0" r="-111595" b="0"/>
            </a:stretch>
          </a:blip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546992" y="7534848"/>
            <a:ext cx="4084874" cy="4114800"/>
          </a:xfrm>
          <a:custGeom>
            <a:avLst/>
            <a:gdLst/>
            <a:ahLst/>
            <a:cxnLst/>
            <a:rect r="r" b="b" t="t" l="l"/>
            <a:pathLst>
              <a:path h="4114800" w="4084874">
                <a:moveTo>
                  <a:pt x="0" y="0"/>
                </a:moveTo>
                <a:lnTo>
                  <a:pt x="4084874" y="0"/>
                </a:lnTo>
                <a:lnTo>
                  <a:pt x="40848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08894" y="547070"/>
            <a:ext cx="12121029" cy="963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84"/>
              </a:lnSpc>
              <a:spcBef>
                <a:spcPct val="0"/>
              </a:spcBef>
            </a:pPr>
            <a:r>
              <a:rPr lang="en-US" b="true" sz="6320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Table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52130" y="1510330"/>
            <a:ext cx="9870761" cy="8604968"/>
          </a:xfrm>
          <a:custGeom>
            <a:avLst/>
            <a:gdLst/>
            <a:ahLst/>
            <a:cxnLst/>
            <a:rect r="r" b="b" t="t" l="l"/>
            <a:pathLst>
              <a:path h="8604968" w="9870761">
                <a:moveTo>
                  <a:pt x="0" y="0"/>
                </a:moveTo>
                <a:lnTo>
                  <a:pt x="9870761" y="0"/>
                </a:lnTo>
                <a:lnTo>
                  <a:pt x="9870761" y="8604968"/>
                </a:lnTo>
                <a:lnTo>
                  <a:pt x="0" y="8604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15" t="-3507" r="-2115" b="-7387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5381861" y="7200900"/>
            <a:ext cx="3426506" cy="4114800"/>
          </a:xfrm>
          <a:custGeom>
            <a:avLst/>
            <a:gdLst/>
            <a:ahLst/>
            <a:cxnLst/>
            <a:rect r="r" b="b" t="t" l="l"/>
            <a:pathLst>
              <a:path h="4114800" w="3426506">
                <a:moveTo>
                  <a:pt x="0" y="0"/>
                </a:moveTo>
                <a:lnTo>
                  <a:pt x="3426506" y="0"/>
                </a:lnTo>
                <a:lnTo>
                  <a:pt x="342650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08894" y="547070"/>
            <a:ext cx="12121029" cy="963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84"/>
              </a:lnSpc>
              <a:spcBef>
                <a:spcPct val="0"/>
              </a:spcBef>
            </a:pPr>
            <a:r>
              <a:rPr lang="en-US" b="true" sz="6320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Rights Matrix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4034288" y="4679708"/>
            <a:ext cx="5858614" cy="7543800"/>
            <a:chOff x="0" y="0"/>
            <a:chExt cx="7811485" cy="1005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2786" y="0"/>
              <a:ext cx="4885376" cy="4877572"/>
            </a:xfrm>
            <a:custGeom>
              <a:avLst/>
              <a:gdLst/>
              <a:ahLst/>
              <a:cxnLst/>
              <a:rect r="r" b="b" t="t" l="l"/>
              <a:pathLst>
                <a:path h="4877572" w="4885376">
                  <a:moveTo>
                    <a:pt x="0" y="0"/>
                  </a:moveTo>
                  <a:lnTo>
                    <a:pt x="4885376" y="0"/>
                  </a:lnTo>
                  <a:lnTo>
                    <a:pt x="4885376" y="4877572"/>
                  </a:lnTo>
                  <a:lnTo>
                    <a:pt x="0" y="4877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2247552">
              <a:off x="4257025" y="3399535"/>
              <a:ext cx="2960802" cy="2956072"/>
            </a:xfrm>
            <a:custGeom>
              <a:avLst/>
              <a:gdLst/>
              <a:ahLst/>
              <a:cxnLst/>
              <a:rect r="r" b="b" t="t" l="l"/>
              <a:pathLst>
                <a:path h="2956072" w="2960802">
                  <a:moveTo>
                    <a:pt x="0" y="0"/>
                  </a:moveTo>
                  <a:lnTo>
                    <a:pt x="2960802" y="0"/>
                  </a:lnTo>
                  <a:lnTo>
                    <a:pt x="2960802" y="2956073"/>
                  </a:lnTo>
                  <a:lnTo>
                    <a:pt x="0" y="295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2893323">
              <a:off x="835299" y="5159263"/>
              <a:ext cx="4066828" cy="4060331"/>
            </a:xfrm>
            <a:custGeom>
              <a:avLst/>
              <a:gdLst/>
              <a:ahLst/>
              <a:cxnLst/>
              <a:rect r="r" b="b" t="t" l="l"/>
              <a:pathLst>
                <a:path h="4060331" w="4066828">
                  <a:moveTo>
                    <a:pt x="0" y="0"/>
                  </a:moveTo>
                  <a:lnTo>
                    <a:pt x="4066828" y="0"/>
                  </a:lnTo>
                  <a:lnTo>
                    <a:pt x="4066828" y="4060331"/>
                  </a:lnTo>
                  <a:lnTo>
                    <a:pt x="0" y="4060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2052100"/>
            <a:ext cx="7525215" cy="6789144"/>
          </a:xfrm>
          <a:custGeom>
            <a:avLst/>
            <a:gdLst/>
            <a:ahLst/>
            <a:cxnLst/>
            <a:rect r="r" b="b" t="t" l="l"/>
            <a:pathLst>
              <a:path h="6789144" w="7525215">
                <a:moveTo>
                  <a:pt x="0" y="0"/>
                </a:moveTo>
                <a:lnTo>
                  <a:pt x="7525215" y="0"/>
                </a:lnTo>
                <a:lnTo>
                  <a:pt x="7525215" y="6789143"/>
                </a:lnTo>
                <a:lnTo>
                  <a:pt x="0" y="67891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8467" t="-18235" r="-48467" b="-591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945068" y="2052100"/>
            <a:ext cx="7769711" cy="7128286"/>
          </a:xfrm>
          <a:custGeom>
            <a:avLst/>
            <a:gdLst/>
            <a:ahLst/>
            <a:cxnLst/>
            <a:rect r="r" b="b" t="t" l="l"/>
            <a:pathLst>
              <a:path h="7128286" w="7769711">
                <a:moveTo>
                  <a:pt x="0" y="0"/>
                </a:moveTo>
                <a:lnTo>
                  <a:pt x="7769711" y="0"/>
                </a:lnTo>
                <a:lnTo>
                  <a:pt x="7769711" y="7128286"/>
                </a:lnTo>
                <a:lnTo>
                  <a:pt x="0" y="71282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08894" y="547070"/>
            <a:ext cx="12121029" cy="963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84"/>
              </a:lnSpc>
              <a:spcBef>
                <a:spcPct val="0"/>
              </a:spcBef>
            </a:pPr>
            <a:r>
              <a:rPr lang="en-US" b="true" sz="6320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Sales CRUD demo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170861"/>
            <a:ext cx="7309124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000">
                <a:solidFill>
                  <a:srgbClr val="325939"/>
                </a:solidFill>
                <a:latin typeface="Cardo"/>
                <a:ea typeface="Cardo"/>
                <a:cs typeface="Cardo"/>
                <a:sym typeface="Cardo"/>
              </a:rPr>
              <a:t>New Sales Modal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75361" y="9248775"/>
            <a:ext cx="7309124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000">
                <a:solidFill>
                  <a:srgbClr val="325939"/>
                </a:solidFill>
                <a:latin typeface="Cardo"/>
                <a:ea typeface="Cardo"/>
                <a:cs typeface="Cardo"/>
                <a:sym typeface="Cardo"/>
              </a:rPr>
              <a:t>After Transaction creation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4034288" y="4679708"/>
            <a:ext cx="5858614" cy="7543800"/>
            <a:chOff x="0" y="0"/>
            <a:chExt cx="7811485" cy="1005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2786" y="0"/>
              <a:ext cx="4885376" cy="4877572"/>
            </a:xfrm>
            <a:custGeom>
              <a:avLst/>
              <a:gdLst/>
              <a:ahLst/>
              <a:cxnLst/>
              <a:rect r="r" b="b" t="t" l="l"/>
              <a:pathLst>
                <a:path h="4877572" w="4885376">
                  <a:moveTo>
                    <a:pt x="0" y="0"/>
                  </a:moveTo>
                  <a:lnTo>
                    <a:pt x="4885376" y="0"/>
                  </a:lnTo>
                  <a:lnTo>
                    <a:pt x="4885376" y="4877572"/>
                  </a:lnTo>
                  <a:lnTo>
                    <a:pt x="0" y="4877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2247552">
              <a:off x="4257025" y="3399535"/>
              <a:ext cx="2960802" cy="2956072"/>
            </a:xfrm>
            <a:custGeom>
              <a:avLst/>
              <a:gdLst/>
              <a:ahLst/>
              <a:cxnLst/>
              <a:rect r="r" b="b" t="t" l="l"/>
              <a:pathLst>
                <a:path h="2956072" w="2960802">
                  <a:moveTo>
                    <a:pt x="0" y="0"/>
                  </a:moveTo>
                  <a:lnTo>
                    <a:pt x="2960802" y="0"/>
                  </a:lnTo>
                  <a:lnTo>
                    <a:pt x="2960802" y="2956073"/>
                  </a:lnTo>
                  <a:lnTo>
                    <a:pt x="0" y="295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2893323">
              <a:off x="835299" y="5159263"/>
              <a:ext cx="4066828" cy="4060331"/>
            </a:xfrm>
            <a:custGeom>
              <a:avLst/>
              <a:gdLst/>
              <a:ahLst/>
              <a:cxnLst/>
              <a:rect r="r" b="b" t="t" l="l"/>
              <a:pathLst>
                <a:path h="4060331" w="4066828">
                  <a:moveTo>
                    <a:pt x="0" y="0"/>
                  </a:moveTo>
                  <a:lnTo>
                    <a:pt x="4066828" y="0"/>
                  </a:lnTo>
                  <a:lnTo>
                    <a:pt x="4066828" y="4060331"/>
                  </a:lnTo>
                  <a:lnTo>
                    <a:pt x="0" y="4060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173269" y="1793602"/>
            <a:ext cx="6521349" cy="7587095"/>
          </a:xfrm>
          <a:custGeom>
            <a:avLst/>
            <a:gdLst/>
            <a:ahLst/>
            <a:cxnLst/>
            <a:rect r="r" b="b" t="t" l="l"/>
            <a:pathLst>
              <a:path h="7587095" w="6521349">
                <a:moveTo>
                  <a:pt x="0" y="0"/>
                </a:moveTo>
                <a:lnTo>
                  <a:pt x="6521350" y="0"/>
                </a:lnTo>
                <a:lnTo>
                  <a:pt x="6521350" y="7587095"/>
                </a:lnTo>
                <a:lnTo>
                  <a:pt x="0" y="75870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762110" y="1793602"/>
            <a:ext cx="6592828" cy="7342302"/>
          </a:xfrm>
          <a:custGeom>
            <a:avLst/>
            <a:gdLst/>
            <a:ahLst/>
            <a:cxnLst/>
            <a:rect r="r" b="b" t="t" l="l"/>
            <a:pathLst>
              <a:path h="7342302" w="6592828">
                <a:moveTo>
                  <a:pt x="0" y="0"/>
                </a:moveTo>
                <a:lnTo>
                  <a:pt x="6592828" y="0"/>
                </a:lnTo>
                <a:lnTo>
                  <a:pt x="6592828" y="7342301"/>
                </a:lnTo>
                <a:lnTo>
                  <a:pt x="0" y="73423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08894" y="547070"/>
            <a:ext cx="12121029" cy="963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84"/>
              </a:lnSpc>
              <a:spcBef>
                <a:spcPct val="0"/>
              </a:spcBef>
            </a:pPr>
            <a:r>
              <a:rPr lang="en-US" b="true" sz="6320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Lookup Integration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96157" y="9399747"/>
            <a:ext cx="6688936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000">
                <a:solidFill>
                  <a:srgbClr val="325939"/>
                </a:solidFill>
                <a:latin typeface="Cardo"/>
                <a:ea typeface="Cardo"/>
                <a:cs typeface="Cardo"/>
                <a:sym typeface="Cardo"/>
              </a:rPr>
              <a:t>Customer Lookup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94436" y="9399747"/>
            <a:ext cx="7309124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000">
                <a:solidFill>
                  <a:srgbClr val="325939"/>
                </a:solidFill>
                <a:latin typeface="Cardo"/>
                <a:ea typeface="Cardo"/>
                <a:cs typeface="Cardo"/>
                <a:sym typeface="Cardo"/>
              </a:rPr>
              <a:t>Employee Lookup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4034288" y="4679708"/>
            <a:ext cx="5858614" cy="7543800"/>
            <a:chOff x="0" y="0"/>
            <a:chExt cx="7811485" cy="1005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2786" y="0"/>
              <a:ext cx="4885376" cy="4877572"/>
            </a:xfrm>
            <a:custGeom>
              <a:avLst/>
              <a:gdLst/>
              <a:ahLst/>
              <a:cxnLst/>
              <a:rect r="r" b="b" t="t" l="l"/>
              <a:pathLst>
                <a:path h="4877572" w="4885376">
                  <a:moveTo>
                    <a:pt x="0" y="0"/>
                  </a:moveTo>
                  <a:lnTo>
                    <a:pt x="4885376" y="0"/>
                  </a:lnTo>
                  <a:lnTo>
                    <a:pt x="4885376" y="4877572"/>
                  </a:lnTo>
                  <a:lnTo>
                    <a:pt x="0" y="4877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2247552">
              <a:off x="4257025" y="3399535"/>
              <a:ext cx="2960802" cy="2956072"/>
            </a:xfrm>
            <a:custGeom>
              <a:avLst/>
              <a:gdLst/>
              <a:ahLst/>
              <a:cxnLst/>
              <a:rect r="r" b="b" t="t" l="l"/>
              <a:pathLst>
                <a:path h="2956072" w="2960802">
                  <a:moveTo>
                    <a:pt x="0" y="0"/>
                  </a:moveTo>
                  <a:lnTo>
                    <a:pt x="2960802" y="0"/>
                  </a:lnTo>
                  <a:lnTo>
                    <a:pt x="2960802" y="2956073"/>
                  </a:lnTo>
                  <a:lnTo>
                    <a:pt x="0" y="295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2893323">
              <a:off x="835299" y="5159263"/>
              <a:ext cx="4066828" cy="4060331"/>
            </a:xfrm>
            <a:custGeom>
              <a:avLst/>
              <a:gdLst/>
              <a:ahLst/>
              <a:cxnLst/>
              <a:rect r="r" b="b" t="t" l="l"/>
              <a:pathLst>
                <a:path h="4060331" w="4066828">
                  <a:moveTo>
                    <a:pt x="0" y="0"/>
                  </a:moveTo>
                  <a:lnTo>
                    <a:pt x="4066828" y="0"/>
                  </a:lnTo>
                  <a:lnTo>
                    <a:pt x="4066828" y="4060331"/>
                  </a:lnTo>
                  <a:lnTo>
                    <a:pt x="0" y="4060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8630980" y="1510330"/>
            <a:ext cx="9162294" cy="4665020"/>
          </a:xfrm>
          <a:custGeom>
            <a:avLst/>
            <a:gdLst/>
            <a:ahLst/>
            <a:cxnLst/>
            <a:rect r="r" b="b" t="t" l="l"/>
            <a:pathLst>
              <a:path h="4665020" w="9162294">
                <a:moveTo>
                  <a:pt x="0" y="0"/>
                </a:moveTo>
                <a:lnTo>
                  <a:pt x="9162293" y="0"/>
                </a:lnTo>
                <a:lnTo>
                  <a:pt x="9162293" y="4665021"/>
                </a:lnTo>
                <a:lnTo>
                  <a:pt x="0" y="46650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29398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630980" y="6319621"/>
            <a:ext cx="8945576" cy="3744159"/>
          </a:xfrm>
          <a:custGeom>
            <a:avLst/>
            <a:gdLst/>
            <a:ahLst/>
            <a:cxnLst/>
            <a:rect r="r" b="b" t="t" l="l"/>
            <a:pathLst>
              <a:path h="3744159" w="8945576">
                <a:moveTo>
                  <a:pt x="0" y="0"/>
                </a:moveTo>
                <a:lnTo>
                  <a:pt x="8945575" y="0"/>
                </a:lnTo>
                <a:lnTo>
                  <a:pt x="8945575" y="3744159"/>
                </a:lnTo>
                <a:lnTo>
                  <a:pt x="0" y="37441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8624" r="0" b="-8039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22654" y="2489748"/>
            <a:ext cx="8208326" cy="7183693"/>
          </a:xfrm>
          <a:custGeom>
            <a:avLst/>
            <a:gdLst/>
            <a:ahLst/>
            <a:cxnLst/>
            <a:rect r="r" b="b" t="t" l="l"/>
            <a:pathLst>
              <a:path h="7183693" w="8208326">
                <a:moveTo>
                  <a:pt x="0" y="0"/>
                </a:moveTo>
                <a:lnTo>
                  <a:pt x="8208326" y="0"/>
                </a:lnTo>
                <a:lnTo>
                  <a:pt x="8208326" y="7183692"/>
                </a:lnTo>
                <a:lnTo>
                  <a:pt x="0" y="718369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08894" y="547070"/>
            <a:ext cx="8435106" cy="963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84"/>
              </a:lnSpc>
              <a:spcBef>
                <a:spcPct val="0"/>
              </a:spcBef>
            </a:pPr>
            <a:r>
              <a:rPr lang="en-US" b="true" sz="6320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Cascade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0779" y="1775373"/>
            <a:ext cx="7309124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000">
                <a:solidFill>
                  <a:srgbClr val="325939"/>
                </a:solidFill>
                <a:latin typeface="Cardo"/>
                <a:ea typeface="Cardo"/>
                <a:cs typeface="Cardo"/>
                <a:sym typeface="Cardo"/>
              </a:rPr>
              <a:t>Before Deletion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49205" y="748330"/>
            <a:ext cx="7309124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000">
                <a:solidFill>
                  <a:srgbClr val="325939"/>
                </a:solidFill>
                <a:latin typeface="Cardo"/>
                <a:ea typeface="Cardo"/>
                <a:cs typeface="Cardo"/>
                <a:sym typeface="Cardo"/>
              </a:rPr>
              <a:t>After deletion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76613" y="1009650"/>
            <a:ext cx="10270208" cy="9005541"/>
          </a:xfrm>
          <a:custGeom>
            <a:avLst/>
            <a:gdLst/>
            <a:ahLst/>
            <a:cxnLst/>
            <a:rect r="r" b="b" t="t" l="l"/>
            <a:pathLst>
              <a:path h="9005541" w="10270208">
                <a:moveTo>
                  <a:pt x="0" y="0"/>
                </a:moveTo>
                <a:lnTo>
                  <a:pt x="10270208" y="0"/>
                </a:lnTo>
                <a:lnTo>
                  <a:pt x="10270208" y="9005541"/>
                </a:lnTo>
                <a:lnTo>
                  <a:pt x="0" y="90055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95481" y="7092712"/>
            <a:ext cx="3327638" cy="3327638"/>
          </a:xfrm>
          <a:custGeom>
            <a:avLst/>
            <a:gdLst/>
            <a:ahLst/>
            <a:cxnLst/>
            <a:rect r="r" b="b" t="t" l="l"/>
            <a:pathLst>
              <a:path h="3327638" w="3327638">
                <a:moveTo>
                  <a:pt x="0" y="0"/>
                </a:moveTo>
                <a:lnTo>
                  <a:pt x="3327638" y="0"/>
                </a:lnTo>
                <a:lnTo>
                  <a:pt x="3327638" y="3327638"/>
                </a:lnTo>
                <a:lnTo>
                  <a:pt x="0" y="3327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08894" y="547070"/>
            <a:ext cx="12121029" cy="963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84"/>
              </a:lnSpc>
              <a:spcBef>
                <a:spcPct val="0"/>
              </a:spcBef>
            </a:pPr>
            <a:r>
              <a:rPr lang="en-US" b="true" sz="6320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Reports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31752" y="1174548"/>
            <a:ext cx="10424497" cy="9253526"/>
          </a:xfrm>
          <a:custGeom>
            <a:avLst/>
            <a:gdLst/>
            <a:ahLst/>
            <a:cxnLst/>
            <a:rect r="r" b="b" t="t" l="l"/>
            <a:pathLst>
              <a:path h="9253526" w="10424497">
                <a:moveTo>
                  <a:pt x="0" y="0"/>
                </a:moveTo>
                <a:lnTo>
                  <a:pt x="10424496" y="0"/>
                </a:lnTo>
                <a:lnTo>
                  <a:pt x="10424496" y="9253526"/>
                </a:lnTo>
                <a:lnTo>
                  <a:pt x="0" y="92535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8894" y="547070"/>
            <a:ext cx="12121029" cy="963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84"/>
              </a:lnSpc>
              <a:spcBef>
                <a:spcPct val="0"/>
              </a:spcBef>
            </a:pPr>
            <a:r>
              <a:rPr lang="en-US" b="true" sz="6320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Reports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595481" y="7092712"/>
            <a:ext cx="3327638" cy="3327638"/>
          </a:xfrm>
          <a:custGeom>
            <a:avLst/>
            <a:gdLst/>
            <a:ahLst/>
            <a:cxnLst/>
            <a:rect r="r" b="b" t="t" l="l"/>
            <a:pathLst>
              <a:path h="3327638" w="3327638">
                <a:moveTo>
                  <a:pt x="0" y="0"/>
                </a:moveTo>
                <a:lnTo>
                  <a:pt x="3327638" y="0"/>
                </a:lnTo>
                <a:lnTo>
                  <a:pt x="3327638" y="3327638"/>
                </a:lnTo>
                <a:lnTo>
                  <a:pt x="0" y="3327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56880" y="1295205"/>
            <a:ext cx="9574241" cy="8516314"/>
          </a:xfrm>
          <a:custGeom>
            <a:avLst/>
            <a:gdLst/>
            <a:ahLst/>
            <a:cxnLst/>
            <a:rect r="r" b="b" t="t" l="l"/>
            <a:pathLst>
              <a:path h="8516314" w="9574241">
                <a:moveTo>
                  <a:pt x="0" y="0"/>
                </a:moveTo>
                <a:lnTo>
                  <a:pt x="9574240" y="0"/>
                </a:lnTo>
                <a:lnTo>
                  <a:pt x="9574240" y="8516313"/>
                </a:lnTo>
                <a:lnTo>
                  <a:pt x="0" y="85163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8894" y="547070"/>
            <a:ext cx="12121029" cy="963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84"/>
              </a:lnSpc>
              <a:spcBef>
                <a:spcPct val="0"/>
              </a:spcBef>
            </a:pPr>
            <a:r>
              <a:rPr lang="en-US" b="true" sz="6320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Reports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595481" y="7092712"/>
            <a:ext cx="3327638" cy="3327638"/>
          </a:xfrm>
          <a:custGeom>
            <a:avLst/>
            <a:gdLst/>
            <a:ahLst/>
            <a:cxnLst/>
            <a:rect r="r" b="b" t="t" l="l"/>
            <a:pathLst>
              <a:path h="3327638" w="3327638">
                <a:moveTo>
                  <a:pt x="0" y="0"/>
                </a:moveTo>
                <a:lnTo>
                  <a:pt x="3327638" y="0"/>
                </a:lnTo>
                <a:lnTo>
                  <a:pt x="3327638" y="3327638"/>
                </a:lnTo>
                <a:lnTo>
                  <a:pt x="0" y="3327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36855" y="1013849"/>
            <a:ext cx="9997432" cy="8997689"/>
          </a:xfrm>
          <a:custGeom>
            <a:avLst/>
            <a:gdLst/>
            <a:ahLst/>
            <a:cxnLst/>
            <a:rect r="r" b="b" t="t" l="l"/>
            <a:pathLst>
              <a:path h="8997689" w="9997432">
                <a:moveTo>
                  <a:pt x="0" y="0"/>
                </a:moveTo>
                <a:lnTo>
                  <a:pt x="9997433" y="0"/>
                </a:lnTo>
                <a:lnTo>
                  <a:pt x="9997433" y="8997689"/>
                </a:lnTo>
                <a:lnTo>
                  <a:pt x="0" y="89976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8894" y="547070"/>
            <a:ext cx="12121029" cy="963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84"/>
              </a:lnSpc>
              <a:spcBef>
                <a:spcPct val="0"/>
              </a:spcBef>
            </a:pPr>
            <a:r>
              <a:rPr lang="en-US" b="true" sz="6320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Reports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595481" y="7092712"/>
            <a:ext cx="3327638" cy="3327638"/>
          </a:xfrm>
          <a:custGeom>
            <a:avLst/>
            <a:gdLst/>
            <a:ahLst/>
            <a:cxnLst/>
            <a:rect r="r" b="b" t="t" l="l"/>
            <a:pathLst>
              <a:path h="3327638" w="3327638">
                <a:moveTo>
                  <a:pt x="0" y="0"/>
                </a:moveTo>
                <a:lnTo>
                  <a:pt x="3327638" y="0"/>
                </a:lnTo>
                <a:lnTo>
                  <a:pt x="3327638" y="3327638"/>
                </a:lnTo>
                <a:lnTo>
                  <a:pt x="0" y="3327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8894" y="547070"/>
            <a:ext cx="13743060" cy="963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84"/>
              </a:lnSpc>
              <a:spcBef>
                <a:spcPct val="0"/>
              </a:spcBef>
            </a:pPr>
            <a:r>
              <a:rPr lang="en-US" b="true" sz="6320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Lessons Learned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42188" y="1828800"/>
            <a:ext cx="15603625" cy="742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Challenges of State Synchronization:</a:t>
            </a:r>
            <a:r>
              <a:rPr lang="en-US" sz="3000">
                <a:solidFill>
                  <a:srgbClr val="325939"/>
                </a:solidFill>
                <a:latin typeface="Cardo"/>
                <a:ea typeface="Cardo"/>
                <a:cs typeface="Cardo"/>
                <a:sym typeface="Cardo"/>
              </a:rPr>
              <a:t> Implementing Cascade Logic taught us that deactivating a parent record (Sales) requires a robust synchronization strategy to ensure child records (SalesDetail) follow the same governance state without causing data drift.</a:t>
            </a:r>
          </a:p>
          <a:p>
            <a:pPr algn="l">
              <a:lnSpc>
                <a:spcPts val="3900"/>
              </a:lnSpc>
            </a:pP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Granular vs. Generic Permissions</a:t>
            </a:r>
            <a:r>
              <a:rPr lang="en-US" sz="3000">
                <a:solidFill>
                  <a:srgbClr val="325939"/>
                </a:solidFill>
                <a:latin typeface="Cardo"/>
                <a:ea typeface="Cardo"/>
                <a:cs typeface="Cardo"/>
                <a:sym typeface="Cardo"/>
              </a:rPr>
              <a:t>: We learned that mapping access to 13 specific functional rights is far superior to using generic role labels. This granularity allows for precise auditing and prevents "privilege creep" within the organization.</a:t>
            </a:r>
          </a:p>
          <a:p>
            <a:pPr algn="l">
              <a:lnSpc>
                <a:spcPts val="3900"/>
              </a:lnSpc>
            </a:pP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Temporal Data Management:</a:t>
            </a:r>
            <a:r>
              <a:rPr lang="en-US" sz="3000">
                <a:solidFill>
                  <a:srgbClr val="325939"/>
                </a:solidFill>
                <a:latin typeface="Cardo"/>
                <a:ea typeface="Cardo"/>
                <a:cs typeface="Cardo"/>
                <a:sym typeface="Cardo"/>
              </a:rPr>
              <a:t> Separating the priceHist table from the products table was vital. This taught us how to handle time-sensitive data, ensuring that historical sales reflect the price at the time of purchase, even if current inventory prices change.</a:t>
            </a:r>
          </a:p>
          <a:p>
            <a:pPr algn="l">
              <a:lnSpc>
                <a:spcPts val="3900"/>
              </a:lnSpc>
            </a:pP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b="true" sz="3000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Fail-Safe Governance Guard</a:t>
            </a:r>
            <a:r>
              <a:rPr lang="en-US" sz="3000">
                <a:solidFill>
                  <a:srgbClr val="325939"/>
                </a:solidFill>
                <a:latin typeface="Cardo"/>
                <a:ea typeface="Cardo"/>
                <a:cs typeface="Cardo"/>
                <a:sym typeface="Cardo"/>
              </a:rPr>
              <a:t>s: Implementing the "Superadmin Protection" guard (preventing Admins from disabling the system owner) highlighted the necessity of "hard-coded" safety nets to prevent accidental or malicious system lockouts.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839049" y="6172200"/>
            <a:ext cx="3448951" cy="4114800"/>
          </a:xfrm>
          <a:custGeom>
            <a:avLst/>
            <a:gdLst/>
            <a:ahLst/>
            <a:cxnLst/>
            <a:rect r="r" b="b" t="t" l="l"/>
            <a:pathLst>
              <a:path h="4114800" w="3448951">
                <a:moveTo>
                  <a:pt x="0" y="0"/>
                </a:moveTo>
                <a:lnTo>
                  <a:pt x="3448951" y="0"/>
                </a:lnTo>
                <a:lnTo>
                  <a:pt x="34489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43291" y="4154305"/>
            <a:ext cx="12001418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b="true" sz="9000">
                <a:solidFill>
                  <a:srgbClr val="325939"/>
                </a:solidFill>
                <a:latin typeface="Cardo Bold"/>
                <a:ea typeface="Cardo Bold"/>
                <a:cs typeface="Cardo Bold"/>
                <a:sym typeface="Cardo Bold"/>
              </a:rPr>
              <a:t>Thank you!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1998781" y="-3723493"/>
            <a:ext cx="7051175" cy="8406468"/>
            <a:chOff x="0" y="0"/>
            <a:chExt cx="9401566" cy="11208623"/>
          </a:xfrm>
        </p:grpSpPr>
        <p:sp>
          <p:nvSpPr>
            <p:cNvPr name="Freeform 4" id="4"/>
            <p:cNvSpPr/>
            <p:nvPr/>
          </p:nvSpPr>
          <p:spPr>
            <a:xfrm flipH="false" flipV="false" rot="2123307">
              <a:off x="2786108" y="1090831"/>
              <a:ext cx="5528000" cy="5519170"/>
            </a:xfrm>
            <a:custGeom>
              <a:avLst/>
              <a:gdLst/>
              <a:ahLst/>
              <a:cxnLst/>
              <a:rect r="r" b="b" t="t" l="l"/>
              <a:pathLst>
                <a:path h="5519170" w="5528000">
                  <a:moveTo>
                    <a:pt x="0" y="0"/>
                  </a:moveTo>
                  <a:lnTo>
                    <a:pt x="5528000" y="0"/>
                  </a:lnTo>
                  <a:lnTo>
                    <a:pt x="5528000" y="5519170"/>
                  </a:lnTo>
                  <a:lnTo>
                    <a:pt x="0" y="5519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124244">
              <a:off x="5239820" y="6532468"/>
              <a:ext cx="3350267" cy="3344915"/>
            </a:xfrm>
            <a:custGeom>
              <a:avLst/>
              <a:gdLst/>
              <a:ahLst/>
              <a:cxnLst/>
              <a:rect r="r" b="b" t="t" l="l"/>
              <a:pathLst>
                <a:path h="3344915" w="3350267">
                  <a:moveTo>
                    <a:pt x="0" y="0"/>
                  </a:moveTo>
                  <a:lnTo>
                    <a:pt x="3350267" y="0"/>
                  </a:lnTo>
                  <a:lnTo>
                    <a:pt x="3350267" y="3344916"/>
                  </a:lnTo>
                  <a:lnTo>
                    <a:pt x="0" y="3344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-770015">
              <a:off x="452780" y="6160506"/>
              <a:ext cx="4601780" cy="4594429"/>
            </a:xfrm>
            <a:custGeom>
              <a:avLst/>
              <a:gdLst/>
              <a:ahLst/>
              <a:cxnLst/>
              <a:rect r="r" b="b" t="t" l="l"/>
              <a:pathLst>
                <a:path h="4594429" w="4601780">
                  <a:moveTo>
                    <a:pt x="0" y="0"/>
                  </a:moveTo>
                  <a:lnTo>
                    <a:pt x="4601780" y="0"/>
                  </a:lnTo>
                  <a:lnTo>
                    <a:pt x="4601780" y="4594429"/>
                  </a:lnTo>
                  <a:lnTo>
                    <a:pt x="0" y="4594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384267" y="4312039"/>
            <a:ext cx="6096657" cy="7850315"/>
            <a:chOff x="0" y="0"/>
            <a:chExt cx="8128876" cy="1046708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86150" y="0"/>
              <a:ext cx="5083875" cy="5075754"/>
            </a:xfrm>
            <a:custGeom>
              <a:avLst/>
              <a:gdLst/>
              <a:ahLst/>
              <a:cxnLst/>
              <a:rect r="r" b="b" t="t" l="l"/>
              <a:pathLst>
                <a:path h="5075754" w="5083875">
                  <a:moveTo>
                    <a:pt x="0" y="0"/>
                  </a:moveTo>
                  <a:lnTo>
                    <a:pt x="5083875" y="0"/>
                  </a:lnTo>
                  <a:lnTo>
                    <a:pt x="5083875" y="5075754"/>
                  </a:lnTo>
                  <a:lnTo>
                    <a:pt x="0" y="5075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-2247552">
              <a:off x="4429994" y="3537663"/>
              <a:ext cx="3081103" cy="3076182"/>
            </a:xfrm>
            <a:custGeom>
              <a:avLst/>
              <a:gdLst/>
              <a:ahLst/>
              <a:cxnLst/>
              <a:rect r="r" b="b" t="t" l="l"/>
              <a:pathLst>
                <a:path h="3076182" w="3081103">
                  <a:moveTo>
                    <a:pt x="0" y="0"/>
                  </a:moveTo>
                  <a:lnTo>
                    <a:pt x="3081103" y="0"/>
                  </a:lnTo>
                  <a:lnTo>
                    <a:pt x="3081103" y="3076182"/>
                  </a:lnTo>
                  <a:lnTo>
                    <a:pt x="0" y="3076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-2893323">
              <a:off x="869239" y="5368891"/>
              <a:ext cx="4232068" cy="4225308"/>
            </a:xfrm>
            <a:custGeom>
              <a:avLst/>
              <a:gdLst/>
              <a:ahLst/>
              <a:cxnLst/>
              <a:rect r="r" b="b" t="t" l="l"/>
              <a:pathLst>
                <a:path h="4225308" w="4232068">
                  <a:moveTo>
                    <a:pt x="0" y="0"/>
                  </a:moveTo>
                  <a:lnTo>
                    <a:pt x="4232068" y="0"/>
                  </a:lnTo>
                  <a:lnTo>
                    <a:pt x="4232068" y="4225308"/>
                  </a:lnTo>
                  <a:lnTo>
                    <a:pt x="0" y="4225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DAHJdVe1OiA</dc:identifier>
  <dcterms:modified xsi:type="dcterms:W3CDTF">2011-08-01T06:04:30Z</dcterms:modified>
  <cp:revision>1</cp:revision>
  <dc:title>Group5 Hope SMS PPT</dc:title>
</cp:coreProperties>
</file>